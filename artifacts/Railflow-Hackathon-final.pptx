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73df6b5efb4cab" /><Relationship Type="http://schemas.openxmlformats.org/officeDocument/2006/relationships/extended-properties" Target="/docProps/app.xml" Id="Rb7a75b909d834dbf" /><Relationship Type="http://schemas.openxmlformats.org/officeDocument/2006/relationships/officeDocument" Target="/ppt/presentation.xml" Id="R8b0a9effc3d64b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c0653c52434b77"/>
  </p:sldMasterIdLst>
  <p:notesMasterIdLst>
    <p:notesMasterId xmlns:r="http://schemas.openxmlformats.org/officeDocument/2006/relationships" r:id="R647979b4d1de4d1a"/>
  </p:notesMasterIdLst>
  <p:sldIdLst>
    <p:sldId xmlns:r="http://schemas.openxmlformats.org/officeDocument/2006/relationships" id="256" r:id="R1d60678b86774eef"/>
    <p:sldId xmlns:r="http://schemas.openxmlformats.org/officeDocument/2006/relationships" id="257" r:id="R9f11e458c65f4549"/>
    <p:sldId xmlns:r="http://schemas.openxmlformats.org/officeDocument/2006/relationships" id="258" r:id="Rb66dde5430504e17"/>
    <p:sldId xmlns:r="http://schemas.openxmlformats.org/officeDocument/2006/relationships" id="259" r:id="R35914a369559490b"/>
    <p:sldId xmlns:r="http://schemas.openxmlformats.org/officeDocument/2006/relationships" id="260" r:id="Rc70ba12887a24860"/>
    <p:sldId xmlns:r="http://schemas.openxmlformats.org/officeDocument/2006/relationships" id="261" r:id="R628385bf66904919"/>
    <p:sldId xmlns:r="http://schemas.openxmlformats.org/officeDocument/2006/relationships" id="262" r:id="R9e9b3f76decd41f2"/>
    <p:sldId xmlns:r="http://schemas.openxmlformats.org/officeDocument/2006/relationships" id="263" r:id="R1a55d347e88945f6"/>
    <p:sldId xmlns:r="http://schemas.openxmlformats.org/officeDocument/2006/relationships" id="264" r:id="R7f32767f5608442c"/>
    <p:sldId xmlns:r="http://schemas.openxmlformats.org/officeDocument/2006/relationships" id="265" r:id="Rafa86fbd53694081"/>
    <p:sldId xmlns:r="http://schemas.openxmlformats.org/officeDocument/2006/relationships" id="266" r:id="Rfa143964073f486b"/>
    <p:sldId xmlns:r="http://schemas.openxmlformats.org/officeDocument/2006/relationships" id="267" r:id="R378386159b0941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d36bc1492b49e7" /><Relationship Type="http://schemas.openxmlformats.org/officeDocument/2006/relationships/slideMaster" Target="/ppt/slideMasters/slideMaster1.xml" Id="R0cc0653c52434b77" /><Relationship Type="http://schemas.openxmlformats.org/officeDocument/2006/relationships/notesMaster" Target="/ppt/notesMasters/notesMaster1.xml" Id="R647979b4d1de4d1a" /><Relationship Type="http://schemas.openxmlformats.org/officeDocument/2006/relationships/presProps" Target="/ppt/presProps.xml" Id="Rcc4a1940bbd244e7" /><Relationship Type="http://schemas.openxmlformats.org/officeDocument/2006/relationships/tableStyles" Target="/ppt/tableStyles.xml" Id="R52a33daa17624917" /><Relationship Type="http://schemas.openxmlformats.org/officeDocument/2006/relationships/slide" Target="/ppt/slides/slide1.xml" Id="R1d60678b86774eef" /><Relationship Type="http://schemas.openxmlformats.org/officeDocument/2006/relationships/slide" Target="/ppt/slides/slide2.xml" Id="R9f11e458c65f4549" /><Relationship Type="http://schemas.openxmlformats.org/officeDocument/2006/relationships/slide" Target="/ppt/slides/slide3.xml" Id="Rb66dde5430504e17" /><Relationship Type="http://schemas.openxmlformats.org/officeDocument/2006/relationships/slide" Target="/ppt/slides/slide4.xml" Id="R35914a369559490b" /><Relationship Type="http://schemas.openxmlformats.org/officeDocument/2006/relationships/slide" Target="/ppt/slides/slide5.xml" Id="Rc70ba12887a24860" /><Relationship Type="http://schemas.openxmlformats.org/officeDocument/2006/relationships/slide" Target="/ppt/slides/slide6.xml" Id="R628385bf66904919" /><Relationship Type="http://schemas.openxmlformats.org/officeDocument/2006/relationships/slide" Target="/ppt/slides/slide7.xml" Id="R9e9b3f76decd41f2" /><Relationship Type="http://schemas.openxmlformats.org/officeDocument/2006/relationships/slide" Target="/ppt/slides/slide8.xml" Id="R1a55d347e88945f6" /><Relationship Type="http://schemas.openxmlformats.org/officeDocument/2006/relationships/slide" Target="/ppt/slides/slide9.xml" Id="R7f32767f5608442c" /><Relationship Type="http://schemas.openxmlformats.org/officeDocument/2006/relationships/slide" Target="/ppt/slides/slide10.xml" Id="Rafa86fbd53694081" /><Relationship Type="http://schemas.openxmlformats.org/officeDocument/2006/relationships/slide" Target="/ppt/slides/slide11.xml" Id="Rfa143964073f486b" /><Relationship Type="http://schemas.openxmlformats.org/officeDocument/2006/relationships/slide" Target="/ppt/slides/slide12.xml" Id="R378386159b0941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55521e4f0e40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61bb2e71164124" /><Relationship Type="http://schemas.openxmlformats.org/officeDocument/2006/relationships/notesMaster" Target="/ppt/notesMasters/notesMaster1.xml" Id="R868bd2bb2df34a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666b1bbc9f42da" /><Relationship Type="http://schemas.openxmlformats.org/officeDocument/2006/relationships/notesMaster" Target="/ppt/notesMasters/notesMaster1.xml" Id="R2f4c63084bd84f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7e6ce9ffad4a38" /><Relationship Type="http://schemas.openxmlformats.org/officeDocument/2006/relationships/notesMaster" Target="/ppt/notesMasters/notesMaster1.xml" Id="Ra197e204e050456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958b76843948fa" /><Relationship Type="http://schemas.openxmlformats.org/officeDocument/2006/relationships/notesMaster" Target="/ppt/notesMasters/notesMaster1.xml" Id="R45da6e402f3949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877991041643ab" /><Relationship Type="http://schemas.openxmlformats.org/officeDocument/2006/relationships/notesMaster" Target="/ppt/notesMasters/notesMaster1.xml" Id="Re0d63be5721b49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7a22739b3c4837" /><Relationship Type="http://schemas.openxmlformats.org/officeDocument/2006/relationships/notesMaster" Target="/ppt/notesMasters/notesMaster1.xml" Id="Rf05497f6cba146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2189346e1f491f" /><Relationship Type="http://schemas.openxmlformats.org/officeDocument/2006/relationships/notesMaster" Target="/ppt/notesMasters/notesMaster1.xml" Id="R3d944fa5421248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767f8439a24233" /><Relationship Type="http://schemas.openxmlformats.org/officeDocument/2006/relationships/notesMaster" Target="/ppt/notesMasters/notesMaster1.xml" Id="R59cd73b8c3d84b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f5034da33a489a" /><Relationship Type="http://schemas.openxmlformats.org/officeDocument/2006/relationships/notesMaster" Target="/ppt/notesMasters/notesMaster1.xml" Id="Rf45770af13a24f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4fda15801c4e46" /><Relationship Type="http://schemas.openxmlformats.org/officeDocument/2006/relationships/notesMaster" Target="/ppt/notesMasters/notesMaster1.xml" Id="R17bc41c453174c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97f458a88d467e" /><Relationship Type="http://schemas.openxmlformats.org/officeDocument/2006/relationships/notesMaster" Target="/ppt/notesMasters/notesMaster1.xml" Id="Ra14d03ce292b4c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1660ec4b8d4243" /><Relationship Type="http://schemas.openxmlformats.org/officeDocument/2006/relationships/notesMaster" Target="/ppt/notesMasters/notesMaster1.xml" Id="R63d2dbd85fcd4b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Working full-stack prototype built on the supplied immutable railway map. All infrastructure and performance claims are scoped to the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code, preserved network.json, docs/RULES.md and artifacts/*-results.json. This is not certified railway safety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 original assets are protected by SHA-256 regression checks. Source metadata does not contain verified switch tables, platform capacities or physical signal placements.</a:t>
            </a:r>
          </a:p>
          <a:p xmlns:a="http://schemas.openxmlformats.org/drawingml/2006/main">
            <a:r>
              <a:t>Sources: project code, preserved network.json, docs/RULES.md and artifacts/*-results.json. This is not certified railway safety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diagram is editable. All mutation and physics run in one process. SSE sends versioned snapshots to the dashboard and map overlays.</a:t>
            </a:r>
          </a:p>
          <a:p xmlns:a="http://schemas.openxmlformats.org/drawingml/2006/main">
            <a:r>
              <a:t>Sources: project code, preserved network.json, docs/RULES.md and artifacts/*-results.json. This is not certified railway safety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I=(importance-1)/9; D=min(predicted_positive_delay_seconds/300,1); W=eligible_wait_seconds/300, uncapped; E=min(remaining_traction_kWh/1000,1). Importance is independent of train category. FIFO tier after 300 s. Ties: departure time, then train ID.</a:t>
            </a:r>
          </a:p>
          <a:p xmlns:a="http://schemas.openxmlformats.org/drawingml/2006/main">
            <a:r>
              <a:t>Sources: project code, preserved network.json, docs/RULES.md and artifacts/*-results.json. This is not certified railway safety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code, preserved network.json, docs/RULES.md and artifacts/*-results.json. This is not certified railway safety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Siding E47083 is 997.44 m. Usable length is 947.44 m at 25 m end clearances. Approaches E47073/E47069. Bypass E47072/E47071/E47070. Demo boundary vertices V39875/V39870 are track points, not renamed stations. Image: local application browser screenshot, artifacts/map-demo.png.</a:t>
            </a:r>
          </a:p>
          <a:p xmlns:a="http://schemas.openxmlformats.org/drawingml/2006/main">
            <a:r>
              <a:t>Sources: project code, preserved network.json, docs/RULES.md and artifacts/*-results.json. This is not certified railway safety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Incident kinds: train delay/breakdown, failed signal, track closure and temporary speed restriction. Batch validation is atomic. Unknown clearance gives unknown ETA. Late incidents require physical braking inside existing authority.</a:t>
            </a:r>
          </a:p>
          <a:p xmlns:a="http://schemas.openxmlformats.org/drawingml/2006/main">
            <a:r>
              <a:t>Sources: project code, preserved network.json, docs/RULES.md and artifacts/*-results.json. This is not certified railway safety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 and target speed vₜ are m/s, braking b is m/s² and distance d is m. F = 0.0015 × mass_kg × 9.81 + 0.8 × mean_speed_mps². ΔKE = 0.5 × mass_kg × (v_new² − v_old²), in joules.</a:t>
            </a:r>
          </a:p>
          <a:p xmlns:a="http://schemas.openxmlformats.org/drawingml/2006/main">
            <a:r>
              <a:t>Sources: project code, preserved network.json, docs/RULES.md and artifacts/*-results.json. This is not certified railway safety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Window: 300 simulation seconds by default. Schedule averages positive ETA/actual delay across eligible services and samples. Capacity uses moving/eligible train samples. Energy compares reference/actual increments. Conflict samples include invariant violations or an unresolved wait-for cycle. Stopping uses the maximum spatial error in the window. Neutral factors with no applicable observation are disclosed. Arrival time belongs only to S.</a:t>
            </a:r>
          </a:p>
          <a:p xmlns:a="http://schemas.openxmlformats.org/drawingml/2006/main">
            <a:r>
              <a:t>Sources: project code, preserved network.json, docs/RULES.md and artifacts/*-results.json. This is not certified railway safety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"backend": {</a:t>
            </a:r>
          </a:p>
          <a:p xmlns:a="http://schemas.openxmlformats.org/drawingml/2006/main">
            <a:r>
              <a:t>    "trials": 20,</a:t>
            </a:r>
          </a:p>
          <a:p xmlns:a="http://schemas.openxmlformats.org/drawingml/2006/main">
            <a:r>
              <a:t>    "median": 0.574,</a:t>
            </a:r>
          </a:p>
          <a:p xmlns:a="http://schemas.openxmlformats.org/drawingml/2006/main">
            <a:r>
              <a:t>    "p95": 0.605,</a:t>
            </a:r>
          </a:p>
          <a:p xmlns:a="http://schemas.openxmlformats.org/drawingml/2006/main">
            <a:r>
              <a:t>    "max": 0.605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"browser": {</a:t>
            </a:r>
          </a:p>
          <a:p xmlns:a="http://schemas.openxmlformats.org/drawingml/2006/main">
            <a:r>
              <a:t>    "browser": "Firefox 155.0 · WebDriver BiDi",</a:t>
            </a:r>
          </a:p>
          <a:p xmlns:a="http://schemas.openxmlformats.org/drawingml/2006/main">
            <a:r>
              <a:t>    "viewport": "1512×1100 / mobile 390×844, DPR 1",</a:t>
            </a:r>
          </a:p>
          <a:p xmlns:a="http://schemas.openxmlformats.org/drawingml/2006/main">
            <a:r>
              <a:t>    "reconnect_verified": true,</a:t>
            </a:r>
          </a:p>
          <a:p xmlns:a="http://schemas.openxmlformats.org/drawingml/2006/main">
            <a:r>
              <a:t>    "replay_read_only_verified": true,</a:t>
            </a:r>
          </a:p>
          <a:p xmlns:a="http://schemas.openxmlformats.org/drawingml/2006/main">
            <a:r>
              <a:t>    "report_download_verified": true,</a:t>
            </a:r>
          </a:p>
          <a:p xmlns:a="http://schemas.openxmlformats.org/drawingml/2006/main">
            <a:r>
              <a:t>    "out_of_order_discarded": 7,</a:t>
            </a:r>
          </a:p>
          <a:p xmlns:a="http://schemas.openxmlformats.org/drawingml/2006/main">
            <a:r>
              <a:t>    "received_events": 29,</a:t>
            </a:r>
          </a:p>
          <a:p xmlns:a="http://schemas.openxmlformats.org/drawingml/2006/main">
            <a:r>
              <a:t>    "browser_errors": [],</a:t>
            </a:r>
          </a:p>
          <a:p xmlns:a="http://schemas.openxmlformats.org/drawingml/2006/main">
            <a:r>
              <a:t>    "mobile_document_overflow": false,</a:t>
            </a:r>
          </a:p>
          <a:p xmlns:a="http://schemas.openxmlformats.org/drawingml/2006/main">
            <a:r>
              <a:t>    "ui_receipt_to_render_ms": {</a:t>
            </a:r>
          </a:p>
          <a:p xmlns:a="http://schemas.openxmlformats.org/drawingml/2006/main">
            <a:r>
              <a:t>      "samples": 35,</a:t>
            </a:r>
          </a:p>
          <a:p xmlns:a="http://schemas.openxmlformats.org/drawingml/2006/main">
            <a:r>
              <a:t>      "median": 3,</a:t>
            </a:r>
          </a:p>
          <a:p xmlns:a="http://schemas.openxmlformats.org/drawingml/2006/main">
            <a:r>
              <a:t>      "p95": 15,</a:t>
            </a:r>
          </a:p>
          <a:p xmlns:a="http://schemas.openxmlformats.org/drawingml/2006/main">
            <a:r>
              <a:t>      "max": 396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"map_message_to_ack_ms": {</a:t>
            </a:r>
          </a:p>
          <a:p xmlns:a="http://schemas.openxmlformats.org/drawingml/2006/main">
            <a:r>
              <a:t>      "samples": 28,</a:t>
            </a:r>
          </a:p>
          <a:p xmlns:a="http://schemas.openxmlformats.org/drawingml/2006/main">
            <a:r>
              <a:t>      "median": 3,</a:t>
            </a:r>
          </a:p>
          <a:p xmlns:a="http://schemas.openxmlformats.org/drawingml/2006/main">
            <a:r>
              <a:t>      "p95": 7,</a:t>
            </a:r>
          </a:p>
          <a:p xmlns:a="http://schemas.openxmlformats.org/drawingml/2006/main">
            <a:r>
              <a:t>      "max": 407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"server_metrics": {</a:t>
            </a:r>
          </a:p>
          <a:p xmlns:a="http://schemas.openxmlformats.org/drawingml/2006/main">
            <a:r>
              <a:t>      "replan_ms": 1.675,</a:t>
            </a:r>
          </a:p>
          <a:p xmlns:a="http://schemas.openxmlformats.org/drawingml/2006/main">
            <a:r>
              <a:t>      "max_replan_ms": 11.599309000303037,</a:t>
            </a:r>
          </a:p>
          <a:p xmlns:a="http://schemas.openxmlformats.org/drawingml/2006/main">
            <a:r>
              <a:t>      "replans": 2045,</a:t>
            </a:r>
          </a:p>
          <a:p xmlns:a="http://schemas.openxmlformats.org/drawingml/2006/main">
            <a:r>
              <a:t>      "steps": 10179,</a:t>
            </a:r>
          </a:p>
          <a:p xmlns:a="http://schemas.openxmlformats.org/drawingml/2006/main">
            <a:r>
              <a:t>      "incident_batches": 1,</a:t>
            </a:r>
          </a:p>
          <a:p xmlns:a="http://schemas.openxmlformats.org/drawingml/2006/main">
            <a:r>
              <a:t>      "max_incident_batch_ms": 14.07638499949826,</a:t>
            </a:r>
          </a:p>
          <a:p xmlns:a="http://schemas.openxmlformats.org/drawingml/2006/main">
            <a:r>
              <a:t>      "rejected_ingest": 0,</a:t>
            </a:r>
          </a:p>
          <a:p xmlns:a="http://schemas.openxmlformats.org/drawingml/2006/main">
            <a:r>
              <a:t>      "last_incident_batch_ms": 14.076,</a:t>
            </a:r>
          </a:p>
          <a:p xmlns:a="http://schemas.openxmlformats.org/drawingml/2006/main">
            <a:r>
              <a:t>      "tick_ms": 0.003,</a:t>
            </a:r>
          </a:p>
          <a:p xmlns:a="http://schemas.openxmlformats.org/drawingml/2006/main">
            <a:r>
              <a:t>      "max_tick_ms": 33.082,</a:t>
            </a:r>
          </a:p>
          <a:p xmlns:a="http://schemas.openxmlformats.org/drawingml/2006/main">
            <a:r>
              <a:t>      "lag_s": 0,</a:t>
            </a:r>
          </a:p>
          <a:p xmlns:a="http://schemas.openxmlformats.org/drawingml/2006/main">
            <a:r>
              <a:t>      "connections": 3,</a:t>
            </a:r>
          </a:p>
          <a:p xmlns:a="http://schemas.openxmlformats.org/drawingml/2006/main">
            <a:r>
              <a:t>      "subscribers": 1,</a:t>
            </a:r>
          </a:p>
          <a:p xmlns:a="http://schemas.openxmlformats.org/drawingml/2006/main">
            <a:r>
              <a:t>      "dropped_snapshots": 0,</a:t>
            </a:r>
          </a:p>
          <a:p xmlns:a="http://schemas.openxmlformats.org/drawingml/2006/main">
            <a:r>
              <a:t>      "history_retention_hours": 48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Sources: project code, preserved network.json, docs/RULES.md and artifacts/*-results.json. This is not certified railway safety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project code, preserved network.json, docs/RULES.md and artifacts/*-results.json. This is not certified railway safety equipment.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1d51c9bbf44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832e91a4354933" /><Relationship Type="http://schemas.openxmlformats.org/officeDocument/2006/relationships/slideLayout" Target="/ppt/slideLayouts/slideLayout1.xml" Id="R74e1d4d6e17f4a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e1d4d6e17f4a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dda0383b14ca6" /><Relationship Type="http://schemas.openxmlformats.org/officeDocument/2006/relationships/notesSlide" Target="/ppt/notesSlides/notesSlide1.xml" Id="Rda4e2fd464ab44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972773c924c20" /><Relationship Type="http://schemas.openxmlformats.org/officeDocument/2006/relationships/notesSlide" Target="/ppt/notesSlides/notesSlide2.xml" Id="Re655cced56334f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b532e0530451b" /><Relationship Type="http://schemas.openxmlformats.org/officeDocument/2006/relationships/notesSlide" Target="/ppt/notesSlides/notesSlide3.xml" Id="Rb70fef43c9a24d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2b560146ab459e" /><Relationship Type="http://schemas.openxmlformats.org/officeDocument/2006/relationships/notesSlide" Target="/ppt/notesSlides/notesSlide4.xml" Id="Ra6f52f3f23b241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7de54d622439b" /><Relationship Type="http://schemas.openxmlformats.org/officeDocument/2006/relationships/notesSlide" Target="/ppt/notesSlides/notesSlide5.xml" Id="R067886b5bafa4f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8895e831e94de6" /><Relationship Type="http://schemas.openxmlformats.org/officeDocument/2006/relationships/notesSlide" Target="/ppt/notesSlides/notesSlide6.xml" Id="R94bfbd3d22a748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bd0b1347f40fe" /><Relationship Type="http://schemas.openxmlformats.org/officeDocument/2006/relationships/image" Target="/ppt/media/image.png" Id="R7f3680d002db4c2d" /><Relationship Type="http://schemas.openxmlformats.org/officeDocument/2006/relationships/notesSlide" Target="/ppt/notesSlides/notesSlide7.xml" Id="R9fc3d902643f40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3ff21ffcd4751" /><Relationship Type="http://schemas.openxmlformats.org/officeDocument/2006/relationships/notesSlide" Target="/ppt/notesSlides/notesSlide8.xml" Id="Rcd2ad4f4505d499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7d4fbeeb742fe" /><Relationship Type="http://schemas.openxmlformats.org/officeDocument/2006/relationships/notesSlide" Target="/ppt/notesSlides/notesSlide9.xml" Id="Rce6d4f2c521e4f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9d71fe66249d4" /><Relationship Type="http://schemas.openxmlformats.org/officeDocument/2006/relationships/notesSlide" Target="/ppt/notesSlides/notesSlide10.xml" Id="R37b0f250aa9742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2196e7ddd4195" /><Relationship Type="http://schemas.openxmlformats.org/officeDocument/2006/relationships/notesSlide" Target="/ppt/notesSlides/notesSlide11.xml" Id="R106de8a0ab5341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7a5c488f845b8" /><Relationship Type="http://schemas.openxmlformats.org/officeDocument/2006/relationships/notesSlide" Target="/ppt/notesSlides/notesSlide12.xml" Id="R729b68acfac74a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795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7FEBC-BF92-44FA-85D7-747A6281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7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Railflow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58B17-5E69-4585-A015-AA280448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95625"/>
            <a:ext cx="1038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DCE8C4"/>
                </a:solidFill>
                <a:latin typeface="DejaVu Sans"/>
                <a:ea typeface="DejaVu Sans"/>
                <a:cs typeface="DejaVu Sans"/>
              </a:defRPr>
            </a:pPr>
            <a:r>
              <a:rPr sz="3225" b="0">
                <a:solidFill>
                  <a:srgbClr val="DCE8C4"/>
                </a:solidFill>
                <a:latin typeface="DejaVu Sans"/>
                <a:ea typeface="DejaVu Sans"/>
                <a:cs typeface="DejaVu Sans"/>
              </a:rPr>
              <a:t>Railway dispatch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42831-A455-4927-BA72-9CE8DAD8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ALT University ·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02054-8AAD-4EB8-9EBF-4E06A2B0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CE8C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8C4"/>
                </a:solidFill>
                <a:latin typeface="DejaVu Sans"/>
                <a:ea typeface="DejaVu Sans"/>
                <a:cs typeface="DejaVu Sans"/>
              </a:rPr>
              <a:t>Demonstration and advisory system.</a:t>
            </a:r>
          </a:p>
          <a:p xmlns:a="http://schemas.openxmlformats.org/drawingml/2006/main">
            <a:pPr>
              <a:defRPr sz="1725" b="0">
                <a:solidFill>
                  <a:srgbClr val="DCE8C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DCE8C4"/>
                </a:solidFill>
                <a:latin typeface="DejaVu Sans"/>
                <a:ea typeface="DejaVu Sans"/>
                <a:cs typeface="DejaVu Sans"/>
              </a:rPr>
              <a:t>Not a replacement for certified railway safety systems.</a:t>
            </a:r>
          </a:p>
        </p:txBody>
      </p:sp>
    </p:spTree>
    <p:extLst>
      <p:ext uri="{BB962C8B-B14F-4D97-AF65-F5344CB8AC3E}">
        <p14:creationId xmlns:p14="http://schemas.microsoft.com/office/powerpoint/2010/main" val="3575633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97C9E-38A8-48E5-BB6E-6EC04E7A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Dispatch decisions under disruption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35E19-6BA9-4467-B363-D856F0A4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RAILFLOW /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2EAC3-1C7B-4BE0-AAB6-B2E00492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9B5BC-D7F1-4C1A-865A-788BE49C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Opposing and following services share finite track capacity.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2B552-E721-4249-8262-057381FB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Priority changes and incidents require a new feasible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041FE-049B-403F-A143-986E881E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Dispatchers need to see who moves, who waits, and why.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D8C73-96D9-4A94-8B5D-77023185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The prototype explains each decision and records its outcome.</a:t>
            </a:r>
          </a:p>
        </p:txBody>
      </p:sp>
    </p:spTree>
    <p:extLst>
      <p:ext uri="{BB962C8B-B14F-4D97-AF65-F5344CB8AC3E}">
        <p14:creationId xmlns:p14="http://schemas.microsoft.com/office/powerpoint/2010/main" val="18314917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751B75-827E-4B09-B960-9E4BC3C0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The railway stays unchanged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CF5C8-3D9B-4D0B-872C-359B6B48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RAILFLOW /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95A1F-BACC-47AC-B28D-783B7876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D515B-9127-46AD-A0A7-14CD99E2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4381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247953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247953"/>
                </a:solidFill>
                <a:latin typeface="DejaVu Sans"/>
                <a:ea typeface="DejaVu Sans"/>
                <a:cs typeface="DejaVu Sans"/>
              </a:rPr>
              <a:t>49,682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5BA58-FD0C-4A4A-A7CC-6B343577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original track edges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7366DA-8A62-4800-8991-A54E242C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6212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247953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247953"/>
                </a:solidFill>
                <a:latin typeface="DejaVu Sans"/>
                <a:ea typeface="DejaVu Sans"/>
                <a:cs typeface="DejaVu Sans"/>
              </a:rPr>
              <a:t>841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CBE97-E588-4B3F-8844-E1F81DA0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synthetic source ways excluded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D2BE0A-6B11-4010-900A-A765D89B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Only existing adjacency is routable.</a:t>
            </a:r>
          </a:p>
          <a:p xmlns:a="http://schemas.openxmlformats.org/drawingml/2006/main">
            <a:pPr>
              <a:defRPr sz="2250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A visual crossing never creates a new connection.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72F2A4-F6BD-41B8-BD0B-01A62D19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673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Map geometry, labels and styles remain in the original files.</a:t>
            </a:r>
          </a:p>
          <a:p xmlns:a="http://schemas.openxmlformats.org/drawingml/2006/main">
            <a:pPr>
              <a:defRPr sz="1800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Trains, signals, occupancy and incidents are separate overlays.</a:t>
            </a:r>
          </a:p>
        </p:txBody>
      </p:sp>
    </p:spTree>
    <p:extLst>
      <p:ext uri="{BB962C8B-B14F-4D97-AF65-F5344CB8AC3E}">
        <p14:creationId xmlns:p14="http://schemas.microsoft.com/office/powerpoint/2010/main" val="17618009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63811-B1A4-498D-98B3-675C9729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One authoritative simulation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D7C07-956A-4DA5-8BD2-DF582860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RAILFLOW /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CFFC3-7E3B-458E-96F6-3C7C38CC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8BC9A5-B1BE-4A35-BCF2-365EF0BC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095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DF"/>
          </a:solidFill>
          <a:ln xmlns:a="http://schemas.openxmlformats.org/drawingml/2006/main" w="9525">
            <a:solidFill>
              <a:srgbClr val="9AAF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Dashboard</a:t>
            </a:r>
          </a:p>
          <a:p xmlns:a="http://schemas.openxmlformats.org/drawingml/2006/main">
            <a:pPr algn="ctr">
              <a:def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REST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8AE98-37FF-490B-AD8F-9DF83DED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9825"/>
            <a:ext cx="4095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9D7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22479-E7FB-4000-B5D5-ED89084B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000250"/>
            <a:ext cx="2095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DF"/>
          </a:solidFill>
          <a:ln xmlns:a="http://schemas.openxmlformats.org/drawingml/2006/main" w="9525">
            <a:solidFill>
              <a:srgbClr val="9AAF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Validation</a:t>
            </a:r>
          </a:p>
          <a:p xmlns:a="http://schemas.openxmlformats.org/drawingml/2006/main">
            <a:pPr algn="ctr">
              <a:def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REST 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A2682-8489-442C-AB1B-187F7AE4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409825"/>
            <a:ext cx="4095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9D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3C7272-BB34-4845-A5CB-0422ECEA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2190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DF"/>
          </a:solidFill>
          <a:ln xmlns:a="http://schemas.openxmlformats.org/drawingml/2006/main" w="9525">
            <a:solidFill>
              <a:srgbClr val="9AAF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Simulation</a:t>
            </a:r>
          </a:p>
          <a:p xmlns:a="http://schemas.openxmlformats.org/drawingml/2006/main">
            <a:pPr algn="ctr">
              <a:def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0.2 s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C3C92-7F7E-41C0-83CD-4E05AF65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9825"/>
            <a:ext cx="4095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9D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C199E-182D-429A-A38B-E351FB09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000250"/>
            <a:ext cx="2095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DF"/>
          </a:solidFill>
          <a:ln xmlns:a="http://schemas.openxmlformats.org/drawingml/2006/main" w="9525">
            <a:solidFill>
              <a:srgbClr val="9AAF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SQLite history</a:t>
            </a:r>
          </a:p>
          <a:p xmlns:a="http://schemas.openxmlformats.org/drawingml/2006/main">
            <a:pPr algn="ctr">
              <a:def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Bounded</a:t>
            </a:r>
          </a:p>
          <a:p xmlns:a="http://schemas.openxmlformats.org/drawingml/2006/main">
            <a:pPr algn="ctr">
              <a:def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event bus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58877-4FC3-40E3-B75C-4ADC19FA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48125"/>
            <a:ext cx="2095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DF"/>
          </a:solidFill>
          <a:ln xmlns:a="http://schemas.openxmlformats.org/drawingml/2006/main" w="9525">
            <a:solidFill>
              <a:srgbClr val="9AAF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Original graph</a:t>
            </a:r>
          </a:p>
          <a:p xmlns:a="http://schemas.openxmlformats.org/drawingml/2006/main">
            <a:pPr algn="ctr">
              <a:def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Read-only router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A9D4F-2E9D-4767-80A7-458EF7FB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4429125"/>
            <a:ext cx="4095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F9D7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D4F95-FA37-44C6-AB19-D3FF58D1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48125"/>
            <a:ext cx="2190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DF"/>
          </a:solidFill>
          <a:ln xmlns:a="http://schemas.openxmlformats.org/drawingml/2006/main" w="9525">
            <a:solidFill>
              <a:srgbClr val="9AAF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Dispatch + ATO</a:t>
            </a:r>
          </a:p>
          <a:p xmlns:a="http://schemas.openxmlformats.org/drawingml/2006/main">
            <a:pPr algn="ctr">
              <a:def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Quality factors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4D2D73-1633-484D-AAA6-D6BBE155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95650"/>
            <a:ext cx="266700" cy="5429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7F9D7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210FA-EF1B-4E4A-9396-C2825C18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4795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247953"/>
                </a:solidFill>
                <a:latin typeface="DejaVu Sans"/>
                <a:ea typeface="DejaVu Sans"/>
                <a:cs typeface="DejaVu Sans"/>
              </a:rPr>
              <a:t>Versioned SSE snapshots update the dashboard every 0.5 s</a:t>
            </a:r>
          </a:p>
        </p:txBody>
      </p:sp>
    </p:spTree>
    <p:extLst>
      <p:ext uri="{BB962C8B-B14F-4D97-AF65-F5344CB8AC3E}">
        <p14:creationId xmlns:p14="http://schemas.microsoft.com/office/powerpoint/2010/main" val="569152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F330F-D0BA-4D73-88C3-79921F60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A transparent dispatch preference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935428-98E3-4446-B77B-7A78A354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RAILFLOW /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29FB9-32F7-4A20-8558-6CB1FC8A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D6EA1-505C-4CCE-B803-609CB81F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25" b="1">
                <a:solidFill>
                  <a:srgbClr val="247953"/>
                </a:solidFill>
                <a:latin typeface="DejaVu Sans"/>
                <a:ea typeface="DejaVu Sans"/>
                <a:cs typeface="DejaVu Sans"/>
              </a:defRPr>
            </a:pPr>
            <a:r>
              <a:rPr sz="4425" b="1">
                <a:solidFill>
                  <a:srgbClr val="247953"/>
                </a:solidFill>
                <a:latin typeface="DejaVu Sans"/>
                <a:ea typeface="DejaVu Sans"/>
                <a:cs typeface="DejaVu Sans"/>
              </a:rPr>
              <a:t>P = 4I + 2D + 3W −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FEBDF-0656-4767-BF63-2D3174D1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I = (importance − 1) / 9, input 1–10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D7401F-F751-4800-AE87-29A18737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5275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D = min(delay / 300 s, 1)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3D94E-B72F-4FDE-AC20-A26A6825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W = eligible wait / 300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B89FC-AC7D-423A-ADDE-7E77C2AC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191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E = min(remaining kWh / 1000, 1)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35C9A-DA9B-4714-9884-2EB55CBC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After 300 s, feasible waiting trains enter a protected FIFO tier.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EBCD4-92A4-423B-B387-2D731F55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Occupancy, route compatibility and committed authority are mandatory.</a:t>
            </a:r>
          </a:p>
        </p:txBody>
      </p:sp>
    </p:spTree>
    <p:extLst>
      <p:ext uri="{BB962C8B-B14F-4D97-AF65-F5344CB8AC3E}">
        <p14:creationId xmlns:p14="http://schemas.microsoft.com/office/powerpoint/2010/main" val="570415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BD663-E39B-4202-9152-5C72ED96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Authority, occupancy and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21E36-62F1-4EFD-8C8A-845AD783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RAILFLOW /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66E43B-8519-4C50-B47A-A4238400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068A1-34F5-4C02-B111-751BBA40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62125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7953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247953"/>
                </a:solidFill>
                <a:latin typeface="DejaVu Sans"/>
                <a:ea typeface="DejaVu Sans"/>
                <a:cs typeface="DejaVu Sans"/>
              </a:rPr>
              <a:t>Rear clearance = head − length − 25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8DAE5C-1DD5-48CA-9CE2-8649E80E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Reserve an entire movement to its next stop, atomically.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8756A-9B08-4367-BCE2-6C39B575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Release a block only after the complete train clears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0D0568-5EBD-4E57-9011-4F29D003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Keep junction locks and committed routes when importance changes.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058A9-3919-43D7-8FF5-CCB47C7A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Red holds entry. Green grants authority. Yellow governs approach.</a:t>
            </a:r>
          </a:p>
        </p:txBody>
      </p:sp>
    </p:spTree>
    <p:extLst>
      <p:ext uri="{BB962C8B-B14F-4D97-AF65-F5344CB8AC3E}">
        <p14:creationId xmlns:p14="http://schemas.microsoft.com/office/powerpoint/2010/main" val="6982671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906A8-9F34-43AA-95CD-7F2D4C8F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Passing on an existing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75E75-127A-43B6-ACF2-3F5859E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RAILFLOW /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24589-E0E0-4D98-BA11-2AF7AF37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5AE10-3BC0-4271-BFFB-E178CD7C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3355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47953"/>
                </a:solidFill>
                <a:latin typeface="DejaVu Sans"/>
                <a:ea typeface="DejaVu Sans"/>
                <a:cs typeface="DejaVu Sans"/>
              </a:defRPr>
            </a:pPr>
            <a:r>
              <a:rPr sz="4950" b="1">
                <a:solidFill>
                  <a:srgbClr val="247953"/>
                </a:solidFill>
                <a:latin typeface="DejaVu Sans"/>
                <a:ea typeface="DejaVu Sans"/>
                <a:cs typeface="DejaVu Sans"/>
              </a:rPr>
              <a:t>997.44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54EC87-DD46-46FC-B89A-D274CDB6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43200"/>
            <a:ext cx="514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existing siding E47083</a:t>
            </a:r>
          </a:p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947.44 m usable after clearances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C4724-D1D4-4637-B8B9-D7B64586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38600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The local waits clear of both junctions.</a:t>
            </a:r>
          </a:p>
          <a:p xmlns:a="http://schemas.openxmlformats.org/drawingml/2006/main">
            <a:pPr>
              <a:defRPr sz="2100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The express uses the original bypass.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63B76-125E-4F5A-A96B-825D0872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5435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A 980 m train does not fit and is rejected.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680d002db4c2d"/>
          <a:stretch xmlns:a="http://schemas.openxmlformats.org/drawingml/2006/main"/>
        </p:blipFill>
        <p:spPr>
          <a:xfrm xmlns:a="http://schemas.openxmlformats.org/drawingml/2006/main">
            <a:off x="6191250" y="2304813"/>
            <a:ext cx="5286375" cy="22864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4371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DB5E1-2A8A-4E8D-BBF3-6FD8AC29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Incidents and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49714-93A0-41CF-843E-EAC60296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RAILFLOW /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5A612-0B39-4C39-8F89-3524A7C0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85FE1-1BAA-45D9-89F3-9527B121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Create a delay, breakdown, signal failure, closure or restriction.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7DB6D-A3DF-43FF-A5D8-1788FC89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Identify affected trains and reconsider the plan immediately.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B6CC4-A6BE-4591-9AF7-67DB1C70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Compare existing detours with waiting for clearance.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082AC-C81B-40DB-9000-7F0993FF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43425"/>
            <a:ext cx="10382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Already inside? Brake and hold the occupied route until recovery.</a:t>
            </a:r>
          </a:p>
        </p:txBody>
      </p:sp>
    </p:spTree>
    <p:extLst>
      <p:ext uri="{BB962C8B-B14F-4D97-AF65-F5344CB8AC3E}">
        <p14:creationId xmlns:p14="http://schemas.microsoft.com/office/powerpoint/2010/main" val="4276428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129D5E-929A-4AF0-859F-C34FB41F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Driving advice and traction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D3019-477E-423B-AE6E-502B3A46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RAILFLOW /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B06AB-E608-4E24-B57F-FCC7E17D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AD29B-7414-478B-9B9E-D73D56C4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47953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247953"/>
                </a:solidFill>
                <a:latin typeface="DejaVu Sans"/>
                <a:ea typeface="DejaVu Sans"/>
                <a:cs typeface="DejaVu Sans"/>
              </a:rPr>
              <a:t>v ≤ √(vₜ² + 2bd)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811B4-328A-4813-8E80-C297E575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Target speed vₜ, braking b, distance d. SI units throughout.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42B02-F85F-495C-AA49-FA4D2D33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194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The advice respects signals, authority and scheduled stops.</a:t>
            </a:r>
          </a:p>
          <a:p xmlns:a="http://schemas.openxmlformats.org/drawingml/2006/main">
            <a:pPr>
              <a:defRPr sz="2100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Timetable slack can reduce the recommended cruise speed.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59733-3E14-43CA-B0AA-387D6E7C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ΔE (kWh) = [FΔx + max(0, ΔKE)] / (0.85 × 3,600,000)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63762-67BB-4468-9BEC-A47382E8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Rolling coefficient 0.0015, aerodynamic coefficient 0.8</a:t>
            </a:r>
          </a:p>
          <a:p xmlns:a="http://schemas.openxmlformats.org/drawingml/2006/main">
            <a:pPr>
              <a:defRPr sz="1875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85% efficiency. No gradients or regenerative braking.</a:t>
            </a:r>
          </a:p>
        </p:txBody>
      </p:sp>
    </p:spTree>
    <p:extLst>
      <p:ext uri="{BB962C8B-B14F-4D97-AF65-F5344CB8AC3E}">
        <p14:creationId xmlns:p14="http://schemas.microsoft.com/office/powerpoint/2010/main" val="3513878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D472C-F71A-4239-90D7-DCCDC993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Movement quality, explained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D9A88-6F7A-4153-B8C8-42F7259E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RAILFLOW /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A7AC2-EB2F-4D63-896F-45E13E5F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5BBB1-022F-4500-8087-5461E9EA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247953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247953"/>
                </a:solidFill>
                <a:latin typeface="DejaVu Sans"/>
                <a:ea typeface="DejaVu Sans"/>
                <a:cs typeface="DejaVu Sans"/>
              </a:rPr>
              <a:t>Q = 30S + 20C + 20E + 20F + 10A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01049-1C12-4C57-A195-352EF5A3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336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S  Schedule: max(0, 1 − mean positive delay / 300 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D53DD-DB5D-4D5A-A51F-FAAB5447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C  Capacity proxy: moving / eligible train samples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B1DFB-4FAE-425D-BDE5-EC29930D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E  Energy: min(1, reference / actual traction energy)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4767A-5711-41AE-BD99-F2200484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F  Conflict freedom: 1 − fraction of conflict samples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5D44E-4D87-4E20-93DF-12E56813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A  Stop position: max(0, 1 − maximum error / 5 m)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E5DB7B-2AEB-4DC2-83FE-4F7E92DC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Factors range from 0 to 1 over a rolling 300 s window.</a:t>
            </a:r>
          </a:p>
          <a:p xmlns:a="http://schemas.openxmlformats.org/drawingml/2006/main">
            <a:pPr>
              <a:defRPr sz="1725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No applicable observations: neutral factor 1. No observations: no score.</a:t>
            </a:r>
          </a:p>
        </p:txBody>
      </p:sp>
    </p:spTree>
    <p:extLst>
      <p:ext uri="{BB962C8B-B14F-4D97-AF65-F5344CB8AC3E}">
        <p14:creationId xmlns:p14="http://schemas.microsoft.com/office/powerpoint/2010/main" val="1609034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32AD2-9CC9-4C60-A701-812C4CA6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Measured prototype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68A2F-DD05-42BA-8843-E869A499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RAILFLOW /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EEB62-099C-4293-A883-C51987B3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23900" y="1752600"/>
          <a:ext xmlns:a="http://schemas.openxmlformats.org/drawingml/2006/main" cx="107442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0"/>
                <a:gridCol w="2381250"/>
                <a:gridCol w="321945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</a:t>
                      </a:r>
                    </a:p>
                  </a:txBody>
                  <a:tcPr marL="91440" marR="91440" marT="45720" marB="45720">
                    <a:solidFill>
                      <a:srgbClr val="2479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Observed</a:t>
                      </a:r>
                    </a:p>
                  </a:txBody>
                  <a:tcPr marL="91440" marR="91440" marT="45720" marB="45720">
                    <a:solidFill>
                      <a:srgbClr val="2479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Target / scope</a:t>
                      </a:r>
                    </a:p>
                  </a:txBody>
                  <a:tcPr marL="91440" marR="91440" marT="45720" marB="45720">
                    <a:solidFill>
                      <a:srgbClr val="24795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UI receipt to render, p95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15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&lt;500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incidents, live SQLite</a:t>
                      </a:r>
                    </a:p>
                  </a:txBody>
                  <a:tcPr marL="91440" marR="91440" marT="45720" marB="45720"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 ms</a:t>
                      </a:r>
                    </a:p>
                  </a:txBody>
                  <a:tcPr marL="91440" marR="91440" marT="45720" marB="45720"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&lt;5,000 ms</a:t>
                      </a:r>
                    </a:p>
                  </a:txBody>
                  <a:tcPr marL="91440" marR="91440" marT="45720" marB="45720">
                    <a:solidFill>
                      <a:srgbClr val="EDF2E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incidents, in-memory max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0.605 ms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20 local trials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Automated checks</a:t>
                      </a:r>
                    </a:p>
                  </a:txBody>
                  <a:tcPr marL="91440" marR="91440" marT="45720" marB="45720"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36 passed</a:t>
                      </a:r>
                    </a:p>
                  </a:txBody>
                  <a:tcPr marL="91440" marR="91440" marT="45720" marB="45720">
                    <a:solidFill>
                      <a:srgbClr val="EDF2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Supplied graph</a:t>
                      </a:r>
                    </a:p>
                  </a:txBody>
                  <a:tcPr marL="91440" marR="91440" marT="45720" marB="45720">
                    <a:solidFill>
                      <a:srgbClr val="EDF2E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Reconnect / replay / CSV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Verified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13B32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Firefox browser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06584-1717-4025-97E7-E110A09C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57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0 resource violations in 4 benchmark scenarios.</a:t>
            </a:r>
          </a:p>
          <a:p xmlns:a="http://schemas.openxmlformats.org/drawingml/2006/main">
            <a:pPr>
              <a:defRPr sz="1800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Local two-train tests. These are not production or certified safety results.</a:t>
            </a:r>
          </a:p>
        </p:txBody>
      </p:sp>
    </p:spTree>
    <p:extLst>
      <p:ext uri="{BB962C8B-B14F-4D97-AF65-F5344CB8AC3E}">
        <p14:creationId xmlns:p14="http://schemas.microsoft.com/office/powerpoint/2010/main" val="1567990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69946-3403-4DC7-85A6-0F44B0D5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Demonstration and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740D9-BECF-416B-8305-A442D9AF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RAILFLOW / DEMONSTRATION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A84DB-B5CA-4125-8C58-98FFB3A2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1507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3786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61AB9-B3F4-4154-863A-64A7A3D8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47953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247953"/>
                </a:solidFill>
                <a:latin typeface="DejaVu Sans"/>
                <a:ea typeface="DejaVu Sans"/>
                <a:cs typeface="DejaVu Sans"/>
              </a:rPr>
              <a:t>Demo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8D34B-EF86-4A73-B74C-84205BAC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05075"/>
            <a:ext cx="5095875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1. Load passing and start at 120×</a:t>
            </a:r>
          </a:p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2. Inspect siding hold and authority</a:t>
            </a:r>
          </a:p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3. Create and clear an incident</a:t>
            </a:r>
          </a:p>
          <a:p xmlns:a="http://schemas.openxmlformats.org/drawingml/2006/main">
            <a:pPr>
              <a:def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4. Replay and export the journal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B48C3-AA25-45CB-986B-AC5DE065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17430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47953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247953"/>
                </a:solidFill>
                <a:latin typeface="DejaVu Sans"/>
                <a:ea typeface="DejaVu Sans"/>
                <a:cs typeface="DejaVu Sans"/>
              </a:rPr>
              <a:t>Current limitations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2CA52-62BD-4CF0-8213-92039CC8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05075"/>
            <a:ext cx="49530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Missing platform and switch metadata</a:t>
            </a:r>
          </a:p>
          <a:p xmlns:a="http://schemas.openxmlformats.org/drawingml/2006/main">
            <a:pPr>
              <a:defRPr sz="1950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One exclusive block per original edge</a:t>
            </a:r>
          </a:p>
          <a:p xmlns:a="http://schemas.openxmlformats.org/drawingml/2006/main">
            <a:pPr>
              <a:defRPr sz="1950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Heuristic planning, approximate ETAs</a:t>
            </a:r>
          </a:p>
          <a:p xmlns:a="http://schemas.openxmlformats.org/drawingml/2006/main">
            <a:pPr>
              <a:defRPr sz="1950" b="0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Restart does not restore live 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F64FB2-E049-4DC5-8E5A-9BCBB327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Advisory simulation only.</a:t>
            </a:r>
          </a:p>
          <a:p xmlns:a="http://schemas.openxmlformats.org/drawingml/2006/main">
            <a:pPr>
              <a:defRPr sz="1950" b="1">
                <a:solidFill>
                  <a:srgbClr val="213B32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13B32"/>
                </a:solidFill>
                <a:latin typeface="DejaVu Sans"/>
                <a:ea typeface="DejaVu Sans"/>
                <a:cs typeface="DejaVu Sans"/>
              </a:rPr>
              <a:t>Not a replacement for certified railway safety systems.</a:t>
            </a:r>
          </a:p>
        </p:txBody>
      </p:sp>
    </p:spTree>
    <p:extLst>
      <p:ext uri="{BB962C8B-B14F-4D97-AF65-F5344CB8AC3E}">
        <p14:creationId xmlns:p14="http://schemas.microsoft.com/office/powerpoint/2010/main" val="1411323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2026-10-01T10:54:12.6680000Z</dcterms:created>
  <dcterms:modified xsi:type="dcterms:W3CDTF">2026-10-01T10:54:12.6690000Z</dcterms:modified>
</coreProperties>
</file>