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a02a56e93e464f" /><Relationship Type="http://schemas.openxmlformats.org/officeDocument/2006/relationships/extended-properties" Target="/docProps/app.xml" Id="R1d991fa910d148bc" /><Relationship Type="http://schemas.openxmlformats.org/officeDocument/2006/relationships/officeDocument" Target="/ppt/presentation.xml" Id="R2145ddf224db43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fff088aa254d89"/>
  </p:sldMasterIdLst>
  <p:notesMasterIdLst>
    <p:notesMasterId xmlns:r="http://schemas.openxmlformats.org/officeDocument/2006/relationships" r:id="R0ced7dd334a740e1"/>
  </p:notesMasterIdLst>
  <p:sldIdLst>
    <p:sldId xmlns:r="http://schemas.openxmlformats.org/officeDocument/2006/relationships" id="256" r:id="Reb588edb12b74755"/>
    <p:sldId xmlns:r="http://schemas.openxmlformats.org/officeDocument/2006/relationships" id="257" r:id="R902b9e9e83384707"/>
    <p:sldId xmlns:r="http://schemas.openxmlformats.org/officeDocument/2006/relationships" id="258" r:id="Rd5c97df6fd85478e"/>
    <p:sldId xmlns:r="http://schemas.openxmlformats.org/officeDocument/2006/relationships" id="259" r:id="R8278e7f5f33045c1"/>
    <p:sldId xmlns:r="http://schemas.openxmlformats.org/officeDocument/2006/relationships" id="260" r:id="Reb73c4e7b1e4422e"/>
    <p:sldId xmlns:r="http://schemas.openxmlformats.org/officeDocument/2006/relationships" id="261" r:id="R29114a58ead24dac"/>
    <p:sldId xmlns:r="http://schemas.openxmlformats.org/officeDocument/2006/relationships" id="262" r:id="R0da428e7ee7c4186"/>
    <p:sldId xmlns:r="http://schemas.openxmlformats.org/officeDocument/2006/relationships" id="263" r:id="R11611c8d13ba430d"/>
    <p:sldId xmlns:r="http://schemas.openxmlformats.org/officeDocument/2006/relationships" id="264" r:id="R226eb3d18f444673"/>
    <p:sldId xmlns:r="http://schemas.openxmlformats.org/officeDocument/2006/relationships" id="265" r:id="R36f31622cc424089"/>
    <p:sldId xmlns:r="http://schemas.openxmlformats.org/officeDocument/2006/relationships" id="266" r:id="Rbe43c13654e74ccc"/>
    <p:sldId xmlns:r="http://schemas.openxmlformats.org/officeDocument/2006/relationships" id="267" r:id="R8731a86eba6549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3e6fb6919945cb" /><Relationship Type="http://schemas.openxmlformats.org/officeDocument/2006/relationships/slideMaster" Target="/ppt/slideMasters/slideMaster1.xml" Id="R4afff088aa254d89" /><Relationship Type="http://schemas.openxmlformats.org/officeDocument/2006/relationships/notesMaster" Target="/ppt/notesMasters/notesMaster1.xml" Id="R0ced7dd334a740e1" /><Relationship Type="http://schemas.openxmlformats.org/officeDocument/2006/relationships/presProps" Target="/ppt/presProps.xml" Id="R06e894e9a3da451c" /><Relationship Type="http://schemas.openxmlformats.org/officeDocument/2006/relationships/tableStyles" Target="/ppt/tableStyles.xml" Id="R4bb752b0e9d247b3" /><Relationship Type="http://schemas.openxmlformats.org/officeDocument/2006/relationships/slide" Target="/ppt/slides/slide1.xml" Id="Reb588edb12b74755" /><Relationship Type="http://schemas.openxmlformats.org/officeDocument/2006/relationships/slide" Target="/ppt/slides/slide2.xml" Id="R902b9e9e83384707" /><Relationship Type="http://schemas.openxmlformats.org/officeDocument/2006/relationships/slide" Target="/ppt/slides/slide3.xml" Id="Rd5c97df6fd85478e" /><Relationship Type="http://schemas.openxmlformats.org/officeDocument/2006/relationships/slide" Target="/ppt/slides/slide4.xml" Id="R8278e7f5f33045c1" /><Relationship Type="http://schemas.openxmlformats.org/officeDocument/2006/relationships/slide" Target="/ppt/slides/slide5.xml" Id="Reb73c4e7b1e4422e" /><Relationship Type="http://schemas.openxmlformats.org/officeDocument/2006/relationships/slide" Target="/ppt/slides/slide6.xml" Id="R29114a58ead24dac" /><Relationship Type="http://schemas.openxmlformats.org/officeDocument/2006/relationships/slide" Target="/ppt/slides/slide7.xml" Id="R0da428e7ee7c4186" /><Relationship Type="http://schemas.openxmlformats.org/officeDocument/2006/relationships/slide" Target="/ppt/slides/slide8.xml" Id="R11611c8d13ba430d" /><Relationship Type="http://schemas.openxmlformats.org/officeDocument/2006/relationships/slide" Target="/ppt/slides/slide9.xml" Id="R226eb3d18f444673" /><Relationship Type="http://schemas.openxmlformats.org/officeDocument/2006/relationships/slide" Target="/ppt/slides/slide10.xml" Id="R36f31622cc424089" /><Relationship Type="http://schemas.openxmlformats.org/officeDocument/2006/relationships/slide" Target="/ppt/slides/slide11.xml" Id="Rbe43c13654e74ccc" /><Relationship Type="http://schemas.openxmlformats.org/officeDocument/2006/relationships/slide" Target="/ppt/slides/slide12.xml" Id="R8731a86eba6549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abeac970d14c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25ce6d67e6427b" /><Relationship Type="http://schemas.openxmlformats.org/officeDocument/2006/relationships/notesMaster" Target="/ppt/notesMasters/notesMaster1.xml" Id="R879934c0c0114b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23a656ec1c43cc" /><Relationship Type="http://schemas.openxmlformats.org/officeDocument/2006/relationships/notesMaster" Target="/ppt/notesMasters/notesMaster1.xml" Id="Rbf3eee2d8a324a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26e91693dd4ecb" /><Relationship Type="http://schemas.openxmlformats.org/officeDocument/2006/relationships/notesMaster" Target="/ppt/notesMasters/notesMaster1.xml" Id="R2d59f9ce824e4b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290d3f453d4ed7" /><Relationship Type="http://schemas.openxmlformats.org/officeDocument/2006/relationships/notesMaster" Target="/ppt/notesMasters/notesMaster1.xml" Id="R95ad47216f2e40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84e21fc4d44f3c" /><Relationship Type="http://schemas.openxmlformats.org/officeDocument/2006/relationships/notesMaster" Target="/ppt/notesMasters/notesMaster1.xml" Id="R027f89644e8e44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22879287dd4040" /><Relationship Type="http://schemas.openxmlformats.org/officeDocument/2006/relationships/notesMaster" Target="/ppt/notesMasters/notesMaster1.xml" Id="R4dae4247e55c4b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000b921e094880" /><Relationship Type="http://schemas.openxmlformats.org/officeDocument/2006/relationships/notesMaster" Target="/ppt/notesMasters/notesMaster1.xml" Id="R1bb51644063b4a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bd8395de594e76" /><Relationship Type="http://schemas.openxmlformats.org/officeDocument/2006/relationships/notesMaster" Target="/ppt/notesMasters/notesMaster1.xml" Id="R60e12929280c43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3d6af947234f69" /><Relationship Type="http://schemas.openxmlformats.org/officeDocument/2006/relationships/notesMaster" Target="/ppt/notesMasters/notesMaster1.xml" Id="R99b8b4a295ef4f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d2c60344d644f3" /><Relationship Type="http://schemas.openxmlformats.org/officeDocument/2006/relationships/notesMaster" Target="/ppt/notesMasters/notesMaster1.xml" Id="R5c22b35a943048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c5570d50c24d99" /><Relationship Type="http://schemas.openxmlformats.org/officeDocument/2006/relationships/notesMaster" Target="/ppt/notesMasters/notesMaster1.xml" Id="Rf7e7972efbbf4b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c24dc623974e74" /><Relationship Type="http://schemas.openxmlformats.org/officeDocument/2006/relationships/notesMaster" Target="/ppt/notesMasters/notesMaster1.xml" Id="R5f6ffac6cfcf4d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Командный прототип по кейсу «Автодиспетчер», Автодиспетчер_презентация 1.10.pdf. Проект: https://github.com/g1gantera/hackathon-alt-university, ветка integrated.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регламент, физические страницы 4–11. Реализация: backend/app/main.py, integration.py, planning/solver.py.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data/corridor, backend/app/scenarios.py; пользователь разрешил синтетическую нагрузку. Реальные ТРА, блок-участки и суточный график не предоставлены.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Реализация: backend/ingestion/service.py, backend/app/ingestion_client.py, main.py, storage.py; compose.integrated.yml. Шина — ограниченный буфер в памяти; длительная история хранится отдельно в SQLite.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backend/app/planning/baseline.py, solver.py, common.py; независимый валидатор backend/app/validation/plan.py.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backend/app/switches.py. Модельное допущение: одна общая горловина на станцию; точная топология стрелок неизвестна. Прибытие/отправление задаёт начало интервала занятости, следующие 15 с — освобождение маршрута.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backend/app/advisory/speed.py, live_logic.py; кривые рассчитываются для каждого перегона. Энергия тяги интегрируется по расстоянию, вспомогательное питание — по времени. Рекуперация не моделируется.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backend/app/metrics/quality.py, config/metrics.json, backend/app/live_logic.py. P=max(0,1−взвешенная средняя задержка/3600); T=доля завершённых в окне; E=max(0,1−кВт·ч/30000); C=1 при отсутствии конфликтов; A=доля прибытий в допуске 60 с. Нормы и веса настраиваются.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backend/app/metric_settings.py, logic_api.py, frontend/src/MetricSettings.tsx. Роль admin; атомарная запись metrics.runtime.json.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docs/regulation-benchmark.json, локальный замер 1 октября 2026, отдельный ingestion-сервис, восемь поездов, demo-авторизация для тестового запуска. Это измерения на данной машине, не гарантия для любого оборудования. В каждом опыте получены и применены три допустимых варианта.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backend/app/metrics/economics.py, config/economics.example.json. Тарифы пользователя не предоставлены. Формула на слайде — сокращённое объяснение: в реализации также отдельные ставки времени пассажирских и грузовых поездов. Сравнивать нужно допустимые планы в одинаковых условиях.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INTEGRATION.md, docs/regulation-status.md и пользовательское распределение ролей: frontend/backend/logic. Live demo удовлетворяет альтернативе «видео или живой показ».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fcfaeec7148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dd133155694323" /><Relationship Type="http://schemas.openxmlformats.org/officeDocument/2006/relationships/slideLayout" Target="/ppt/slideLayouts/slideLayout1.xml" Id="Rfc0e14d852d544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0e14d852d544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8d32695d84d1c" /><Relationship Type="http://schemas.openxmlformats.org/officeDocument/2006/relationships/notesSlide" Target="/ppt/notesSlides/notesSlide1.xml" Id="R9d05fc4c2d5b49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bbb6ed7164b9a" /><Relationship Type="http://schemas.openxmlformats.org/officeDocument/2006/relationships/notesSlide" Target="/ppt/notesSlides/notesSlide2.xml" Id="R5354d13dbb0c4f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1befdaadf4c58" /><Relationship Type="http://schemas.openxmlformats.org/officeDocument/2006/relationships/notesSlide" Target="/ppt/notesSlides/notesSlide3.xml" Id="Rb8fdeebd879d48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299cff4024919" /><Relationship Type="http://schemas.openxmlformats.org/officeDocument/2006/relationships/notesSlide" Target="/ppt/notesSlides/notesSlide4.xml" Id="R6446dfdc23f844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5b9dc69b543d1" /><Relationship Type="http://schemas.openxmlformats.org/officeDocument/2006/relationships/notesSlide" Target="/ppt/notesSlides/notesSlide5.xml" Id="Rabd44cda2dc146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645092d3747e8" /><Relationship Type="http://schemas.openxmlformats.org/officeDocument/2006/relationships/notesSlide" Target="/ppt/notesSlides/notesSlide6.xml" Id="R13b4c7c002a645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20126901c4eb9" /><Relationship Type="http://schemas.openxmlformats.org/officeDocument/2006/relationships/notesSlide" Target="/ppt/notesSlides/notesSlide7.xml" Id="R60a7fb88c9bf41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7db9743314f21" /><Relationship Type="http://schemas.openxmlformats.org/officeDocument/2006/relationships/notesSlide" Target="/ppt/notesSlides/notesSlide8.xml" Id="R71fdea0377b24f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8a5d4724f4de9" /><Relationship Type="http://schemas.openxmlformats.org/officeDocument/2006/relationships/notesSlide" Target="/ppt/notesSlides/notesSlide9.xml" Id="R41cb7bf188f544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ce82455294a58" /><Relationship Type="http://schemas.openxmlformats.org/officeDocument/2006/relationships/notesSlide" Target="/ppt/notesSlides/notesSlide10.xml" Id="Rd8a17d65f9804d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3d6bf24564af1" /><Relationship Type="http://schemas.openxmlformats.org/officeDocument/2006/relationships/notesSlide" Target="/ppt/notesSlides/notesSlide11.xml" Id="Rb75e09b1b6db48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0f201aa7c414a" /><Relationship Type="http://schemas.openxmlformats.org/officeDocument/2006/relationships/notesSlide" Target="/ppt/notesSlides/notesSlide12.xml" Id="R8f4c7c6ee6b040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81A47-A9BD-4CD0-8A15-6372F0A9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1D5C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91D5CB"/>
                </a:solidFill>
                <a:latin typeface="DejaVu Sans"/>
                <a:ea typeface="DejaVu Sans"/>
                <a:cs typeface="DejaVu Sans"/>
              </a:rPr>
              <a:t>RailFlow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61370-826F-40EF-9FC6-DD5ED453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1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53AB6-F9F4-4C88-879D-CC5911F5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Автодиспетчер участка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32B9B-D2CB-47AC-9ADF-51F85AB4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91D5CB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91D5CB"/>
                </a:solidFill>
                <a:latin typeface="DejaVu Sans"/>
                <a:ea typeface="DejaVu Sans"/>
                <a:cs typeface="DejaVu Sans"/>
              </a:rPr>
              <a:t>Кокшетау — Астана Нурлы Жол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7ABBA-4830-40E0-BA83-57D4312F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577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Планирование · рекомендации скорости · измеримый результат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18AFF-5494-4AAF-B002-C1F7954D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Хакатон ALT University · команда из трёх участников</a:t>
            </a:r>
          </a:p>
        </p:txBody>
      </p:sp>
    </p:spTree>
    <p:extLst>
      <p:ext uri="{BB962C8B-B14F-4D97-AF65-F5344CB8AC3E}">
        <p14:creationId xmlns:p14="http://schemas.microsoft.com/office/powerpoint/2010/main" val="69695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6DFC8-6526-4445-9A16-9BE4E856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Диспетчер видит последствия сбоя до применения плана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4D47B-3D08-4D27-9095-EA11FBE7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2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AD9B6-8C38-4692-AF70-9F8D42B3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7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E76"/>
                </a:solidFill>
                <a:latin typeface="DejaVu Sans"/>
                <a:ea typeface="DejaVu Sans"/>
                <a:cs typeface="DejaVu Sans"/>
              </a:rPr>
              <a:t>Закрытие пути меняет доступные маршруты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828BA-FD71-4C6B-A6BC-E29F7A0D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Система удерживает новые отправления и рассчитывает варианты с учётом уже начатого движения.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8A1F8-52F6-44FC-A2E9-5BE5A015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7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E76"/>
                </a:solidFill>
                <a:latin typeface="DejaVu Sans"/>
                <a:ea typeface="DejaVu Sans"/>
                <a:cs typeface="DejaVu Sans"/>
              </a:rPr>
              <a:t>Каждый вариант проходит независимую проверку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76146-A914-4392-A789-DADC7469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814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Диспетчер сравнивает задержки, расход энергии и индекс качества, затем применяет допустимый план.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1C9CC-94BF-4AF1-ABB6-13963838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Прототип выдаёт рекомендации в симуляции. Управления реальной сигнализацией нет.</a:t>
            </a:r>
          </a:p>
        </p:txBody>
      </p:sp>
    </p:spTree>
    <p:extLst>
      <p:ext uri="{BB962C8B-B14F-4D97-AF65-F5344CB8AC3E}">
        <p14:creationId xmlns:p14="http://schemas.microsoft.com/office/powerpoint/2010/main" val="738390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CC8A0-42F1-40A7-8883-52E43D01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Модель участка: 8 поездов и 13 станций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0B9CC-7746-457B-92A7-71A13820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3 / 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10763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514350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Состав модели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Основание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311,8 км · 12 перегонов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Геометрия OpenStreetMap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 поездов в двух направлениях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Синтетический график и загрузка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Главные и станционные пути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Модельные допущения отмечены в данных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 станционных горловин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Условные ресурсы с интервалом 15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B9C1B-A4B1-4129-9859-6DA69C9E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Пассажирские доходят до Нурлы Жол; грузовые заканчивают маршрут на Астана-1.</a:t>
            </a:r>
          </a:p>
        </p:txBody>
      </p:sp>
    </p:spTree>
    <p:extLst>
      <p:ext uri="{BB962C8B-B14F-4D97-AF65-F5344CB8AC3E}">
        <p14:creationId xmlns:p14="http://schemas.microsoft.com/office/powerpoint/2010/main" val="1884018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ED7E0-0C77-4A1B-99CC-1BBB3999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Данные проходят отдельный сервис нормализации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15EC6-10D7-44DB-A250-D7838711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4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ECDD4-A15F-4350-B306-1F58E312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333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6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Симулятор</a:t>
            </a:r>
          </a:p>
          <a:p xmlns:a="http://schemas.openxmlformats.org/drawingml/2006/main">
            <a:pPr>
              <a:def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mock-источник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20473-5CF7-4689-A861-E7251356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333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6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Нормализация</a:t>
            </a:r>
          </a:p>
          <a:p xmlns:a="http://schemas.openxmlformats.org/drawingml/2006/main">
            <a:pPr>
              <a:def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шина событий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708EE-9A3A-44DE-A559-01F2ADD7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2333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6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API + WebSocket</a:t>
            </a:r>
          </a:p>
          <a:p xmlns:a="http://schemas.openxmlformats.org/drawingml/2006/main">
            <a:pPr>
              <a:def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2 Гц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D8465-A836-4AA8-AEF9-88006759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52625"/>
            <a:ext cx="2333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6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React</a:t>
            </a:r>
          </a:p>
          <a:p xmlns:a="http://schemas.openxmlformats.org/drawingml/2006/main">
            <a:pPr>
              <a:def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диспетчер</a:t>
            </a:r>
          </a:p>
        </p:txBody>
      </p: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52750" y="24384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76"/>
            </a:solidFill>
            <a:tail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810250" y="24384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76"/>
            </a:solidFill>
            <a:tail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67750" y="24384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76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A9254-745F-4067-A639-32DA2D10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2333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6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CP-SAT</a:t>
            </a:r>
          </a:p>
          <a:p xmlns:a="http://schemas.openxmlformats.org/drawingml/2006/main">
            <a:pPr>
              <a:def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отдельный процесс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8A3D8-A913-4FDB-B1E4-3B1EA298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48125"/>
            <a:ext cx="2333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6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SQLite</a:t>
            </a:r>
          </a:p>
          <a:p xmlns:a="http://schemas.openxmlformats.org/drawingml/2006/main">
            <a:pPr>
              <a:def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история 48 часов</a:t>
            </a:r>
          </a:p>
        </p:txBody>
      </p:sp>
      <p:cxnSp>
        <p:nvCxnSpPr>
          <p:cNvPr id="26" name=""/>
          <p:cNvCxnSpPr>
            <a:stCxn xmlns:a="http://schemas.openxmlformats.org/drawingml/2006/main" id="3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785938" y="2924175"/>
            <a:ext cx="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76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7500938" y="2924175"/>
            <a:ext cx="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76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C9CB0-15C9-44B3-8AD2-4B2A9611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Два локальных сервиса. История записывается в отдельном потоке.</a:t>
            </a:r>
          </a:p>
        </p:txBody>
      </p:sp>
    </p:spTree>
    <p:extLst>
      <p:ext uri="{BB962C8B-B14F-4D97-AF65-F5344CB8AC3E}">
        <p14:creationId xmlns:p14="http://schemas.microsoft.com/office/powerpoint/2010/main" val="955699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51188-9793-4753-9069-5EF7E808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Планировщик резервирует ресурсы по времени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2F2D8-FEDE-4DDD-80D6-0917BD7E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5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19D1F-F7FA-4167-A6BA-4E2E68BF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7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7E76"/>
                </a:solidFill>
                <a:latin typeface="DejaVu Sans"/>
                <a:ea typeface="DejaVu Sans"/>
                <a:cs typeface="DejaVu Sans"/>
              </a:rPr>
              <a:t>min 100 × Σ приоритет × задержка + время прибытия + изменение плана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BCC5D-7FF7-49A5-89B9-FBE840B1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7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E76"/>
                </a:solidFill>
                <a:latin typeface="DejaVu Sans"/>
                <a:ea typeface="DejaVu Sans"/>
                <a:cs typeface="DejaVu Sans"/>
              </a:rPr>
              <a:t>Жёсткие ограничения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42108-72FF-4954-813F-B813AC95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5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Направление пути, длина поезда, занятость ресурсов, сигналы, физическое время хода и сохранение начатых рейсов.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38B35-46B8-4536-BFD7-03D4525E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Исходный FCFS → баланс / приоритет пассажирских / экономия энергии</a:t>
            </a:r>
          </a:p>
        </p:txBody>
      </p:sp>
    </p:spTree>
    <p:extLst>
      <p:ext uri="{BB962C8B-B14F-4D97-AF65-F5344CB8AC3E}">
        <p14:creationId xmlns:p14="http://schemas.microsoft.com/office/powerpoint/2010/main" val="392438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8D2FD-F3B1-4B2C-BE02-C3839FF5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Стрелочные маршруты исключают одновременный проход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934AB-704A-472D-978D-A97889E1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6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53D87-2503-4AE2-8C8F-D7DAF208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87E76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87E76"/>
                </a:solidFill>
                <a:latin typeface="DejaVu Sans"/>
                <a:ea typeface="DejaVu Sans"/>
                <a:cs typeface="DejaVu Sans"/>
              </a:rPr>
              <a:t>Ресурс switch:станция:throat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14375" y="2667000"/>
          <a:ext xmlns:a="http://schemas.openxmlformats.org/drawingml/2006/main" cx="1076325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52450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Проход через горловину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Резервирование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Прибытие с перегона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[прибытие; прибытие + 15 с)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Отправление на перегон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[отправление; отправление + 15 с)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Другой поезд или закрытие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Пересечение интервалов запрещено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F439B-4001-4066-B677-265F75FB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В интерфейсе: свободна / маршрут замкнут / запрет. Номера стрелок условные.</a:t>
            </a:r>
          </a:p>
        </p:txBody>
      </p:sp>
    </p:spTree>
    <p:extLst>
      <p:ext uri="{BB962C8B-B14F-4D97-AF65-F5344CB8AC3E}">
        <p14:creationId xmlns:p14="http://schemas.microsoft.com/office/powerpoint/2010/main" val="1379912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A6216-5B58-4DB4-9ED2-B5B0E9CC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Профиль скорости связан с физикой и расписанием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199EA-BA65-431C-B482-4A4691BF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7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5A729-481D-48FF-BD15-6AD0C951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7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E76"/>
                </a:solidFill>
                <a:latin typeface="DejaVu Sans"/>
                <a:ea typeface="DejaVu Sans"/>
                <a:cs typeface="DejaVu Sans"/>
              </a:rPr>
              <a:t>v ≤ ограничение; ускорение и торможение ограничены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A6754-3F09-43DC-8E04-46977F89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Профиль учитывает массу, сопротивление, уклон и доступное время. Удержание поезда добавляет ожидание с нулевой скоростью.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6AA10-ACD7-460F-A7A3-AC38D731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87E7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87E76"/>
                </a:solidFill>
                <a:latin typeface="DejaVu Sans"/>
                <a:ea typeface="DejaVu Sans"/>
                <a:cs typeface="DejaVu Sans"/>
              </a:rPr>
              <a:t>E = ∫ max(Fтяги, 0) / η · ds + Pвсп × 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8EBE6-BD24-4389-BE9A-4567CA92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Ожидание на станции и вне участка тоже расходует энергию.</a:t>
            </a:r>
          </a:p>
          <a:p xmlns:a="http://schemas.openxmlformats.org/drawingml/2006/main">
            <a:pPr>
              <a:defRPr sz="2100" b="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Расчёт — рекомендация для симуляции, без подключения к локомотиву.</a:t>
            </a:r>
          </a:p>
        </p:txBody>
      </p:sp>
    </p:spTree>
    <p:extLst>
      <p:ext uri="{BB962C8B-B14F-4D97-AF65-F5344CB8AC3E}">
        <p14:creationId xmlns:p14="http://schemas.microsoft.com/office/powerpoint/2010/main" val="11157096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1C939-0284-4231-9EC2-321B2501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Индекс качества объединяет пять показателей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3088D-A6FC-4058-A646-34A46B99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8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ABCC0-EBEA-4F2C-B046-DD3C2F54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E7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87E76"/>
                </a:solidFill>
                <a:latin typeface="DejaVu Sans"/>
                <a:ea typeface="DejaVu Sans"/>
                <a:cs typeface="DejaVu Sans"/>
              </a:rPr>
              <a:t>I = 100 × (0,30P + 0,20T + 0,20E + 0,15C + 0,15A)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14375" y="2333625"/>
          <a:ext xmlns:a="http://schemas.openxmlformats.org/drawingml/2006/main" cx="1076325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1238250"/>
                <a:gridCol w="5667375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Вес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Смысл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 · график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Приоритетная задержка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 · пропуск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Завершённые рейсы в окне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 · энергия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Расход относительно бюджета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 · конфликты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Отсутствие нарушений ресурсов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· точность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Прибытие в пределах допуска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85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CCB96-0C3E-41FD-8FFF-B32A41E2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Формула и пороги меняются без пересборки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0EAE8-27D2-4568-8255-F29B2C0B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9 / 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14375" y="1714500"/>
          <a:ext xmlns:a="http://schemas.openxmlformats.org/drawingml/2006/main" cx="1076325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457200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Категория по умолчанию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Индекс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Норма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80–100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Внимание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50–79,99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Критично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ниже 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28CB9-7180-4FAE-AB69-4D6129A5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Администратор меняет пять весов, нормы и пороги.</a:t>
            </a:r>
          </a:p>
          <a:p xmlns:a="http://schemas.openxmlformats.org/drawingml/2006/main">
            <a:pPr>
              <a:defRPr sz="2100" b="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Доступны взвешенная сумма и геометрическое среднее.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7E8E8-E4CC-462D-BFE2-C86BC0AC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До первого прибытия точность неизвестна: индекс помечен как предварительный.</a:t>
            </a:r>
          </a:p>
        </p:txBody>
      </p:sp>
    </p:spTree>
    <p:extLst>
      <p:ext uri="{BB962C8B-B14F-4D97-AF65-F5344CB8AC3E}">
        <p14:creationId xmlns:p14="http://schemas.microsoft.com/office/powerpoint/2010/main" val="7113732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1076E-312A-448D-8B1B-9DE32B5C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Четыре пересчёта уложились в лимит 5 секунд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51D78-9533-4B4A-91C7-A0BEE51B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10 / 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14375" y="1714500"/>
          <a:ext xmlns:a="http://schemas.openxmlformats.org/drawingml/2006/main" cx="10763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667000"/>
                <a:gridCol w="266700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Испытание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Запрос → варианты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Макс. ответ API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Одно закрытие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3.38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41 мс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Пакет: 5 сбоев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3.36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31 мс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Пакет: 10 сбоев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3.37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 мс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Сценарий: 10 сбоев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4.28 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96 мс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FBD2A-3C56-4F83-9248-ED044E62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7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E76"/>
                </a:solidFill>
                <a:latin typeface="DejaVu Sans"/>
                <a:ea typeface="DejaVu Sans"/>
                <a:cs typeface="DejaVu Sans"/>
              </a:rPr>
              <a:t>Поток состояния: 2.00 Гц. Ошибок запросов нет.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3E99E-4791-4367-92FB-9F9E17A2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245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Отрисовка &lt;500 мс: сбор замеров реализован; браузерная проверка ещё требуется.</a:t>
            </a:r>
          </a:p>
        </p:txBody>
      </p:sp>
    </p:spTree>
    <p:extLst>
      <p:ext uri="{BB962C8B-B14F-4D97-AF65-F5344CB8AC3E}">
        <p14:creationId xmlns:p14="http://schemas.microsoft.com/office/powerpoint/2010/main" val="6316935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CD48E-EC26-4CB1-AD66-0612D277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Экономический эффект считается по заданным ставкам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EFDB2-47D9-4589-BE04-BF7D9242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11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CC04D-1D48-4366-BA38-166E932E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87E76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87E76"/>
                </a:solidFill>
                <a:latin typeface="DejaVu Sans"/>
                <a:ea typeface="DejaVu Sans"/>
                <a:cs typeface="DejaVu Sans"/>
              </a:rPr>
              <a:t>Экономия = Δэнергия × тариф + Δпростой × ставка времени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C93EE-E6D2-463B-A856-D93BC845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7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E76"/>
                </a:solidFill>
                <a:latin typeface="DejaVu Sans"/>
                <a:ea typeface="DejaVu Sans"/>
                <a:cs typeface="DejaVu Sans"/>
              </a:rPr>
              <a:t>Ставки передаются явно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842F0-C88B-4DC0-AFAD-BC5EA0AD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38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API сравнивает допустимые планы в одинаковых условиях. Примерные ставки помечены как учебные; экономия не обещается заранее.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BD137-CB94-48C6-BB60-0F18721C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Расчёты работают локально на открытом ПО. Платных облачных сервисов нет.</a:t>
            </a:r>
          </a:p>
        </p:txBody>
      </p:sp>
    </p:spTree>
    <p:extLst>
      <p:ext uri="{BB962C8B-B14F-4D97-AF65-F5344CB8AC3E}">
        <p14:creationId xmlns:p14="http://schemas.microsoft.com/office/powerpoint/2010/main" val="337733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B52DA-CCE3-4338-A77E-6CB64459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2343B"/>
                </a:solidFill>
                <a:latin typeface="DejaVu Sans"/>
                <a:ea typeface="DejaVu Sans"/>
                <a:cs typeface="DejaVu Sans"/>
              </a:rPr>
              <a:t>Демонстрация и зоны ответственности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7045B-37E4-42C1-A1D6-D71BD5FF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12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26D68-E862-4F2E-9509-0C017112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E76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87E76"/>
                </a:solidFill>
                <a:latin typeface="DejaVu Sans"/>
                <a:ea typeface="DejaVu Sans"/>
                <a:cs typeface="DejaVu Sans"/>
              </a:rPr>
              <a:t>Вход → движение → сбой → варианты → применение → история и CSV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14375" y="3048000"/>
          <a:ext xmlns:a="http://schemas.openxmlformats.org/drawingml/2006/main" cx="1076325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381875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Участник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Что показывает</a:t>
                      </a:r>
                    </a:p>
                  </a:txBody>
                  <a:tcPr marL="91440" marR="91440" marT="45720" marB="45720">
                    <a:solidFill>
                      <a:srgbClr val="12343B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· Frontend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Карта, график, индекс и профиль скорости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· Backend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API, роли, события и история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· Logic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34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Ограничения, перепланирование и метрики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A6B33-8EF5-44E7-93C6-B337F1A0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9646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9646B"/>
                </a:solidFill>
                <a:latin typeface="DejaVu Sans"/>
                <a:ea typeface="DejaVu Sans"/>
                <a:cs typeface="DejaVu Sans"/>
              </a:rPr>
              <a:t>Запуск: python scripts/run_local.py · инструкция в INTEGRATION.md</a:t>
            </a:r>
          </a:p>
        </p:txBody>
      </p:sp>
    </p:spTree>
    <p:extLst>
      <p:ext uri="{BB962C8B-B14F-4D97-AF65-F5344CB8AC3E}">
        <p14:creationId xmlns:p14="http://schemas.microsoft.com/office/powerpoint/2010/main" val="1486816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2026-10-01T15:25:06.4530000Z</dcterms:created>
  <dcterms:modified xsi:type="dcterms:W3CDTF">2026-10-01T15:25:06.4530000Z</dcterms:modified>
</coreProperties>
</file>